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rchivo Black" charset="1" panose="020B0A03020202020B04"/>
      <p:regular r:id="rId32"/>
    </p:embeddedFont>
    <p:embeddedFont>
      <p:font typeface="Garet Bold" charset="1" panose="00000000000000000000"/>
      <p:regular r:id="rId33"/>
    </p:embeddedFont>
    <p:embeddedFont>
      <p:font typeface="Garet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6.png" Type="http://schemas.openxmlformats.org/officeDocument/2006/relationships/image"/><Relationship Id="rId16" Target="../media/image7.svg" Type="http://schemas.openxmlformats.org/officeDocument/2006/relationships/image"/><Relationship Id="rId17" Target="../media/image4.png" Type="http://schemas.openxmlformats.org/officeDocument/2006/relationships/image"/><Relationship Id="rId18" Target="../media/image5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258567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3542" y="2598947"/>
            <a:ext cx="10773446" cy="338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HR PERFORMANCE REPORT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5853" y="6891400"/>
            <a:ext cx="10773446" cy="71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91"/>
              </a:lnSpc>
              <a:spcBef>
                <a:spcPct val="0"/>
              </a:spcBef>
            </a:pPr>
            <a:r>
              <a:rPr lang="en-US" sz="6399" spc="-50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GRADUATION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522513" y="2045901"/>
          <a:ext cx="11405709" cy="5638800"/>
        </p:xfrm>
        <a:graphic>
          <a:graphicData uri="http://schemas.openxmlformats.org/drawingml/2006/table">
            <a:tbl>
              <a:tblPr/>
              <a:tblGrid>
                <a:gridCol w="6671417"/>
                <a:gridCol w="4734292"/>
              </a:tblGrid>
              <a:tr h="11755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Mahmoud Mohamed Samir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 Cleaning, Data Modeling, Data Visualization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55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Omar Khaled Tharwat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 Cleaning, Data Modeling, Data Visualization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9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Logine Mohamed Abd El-Fattah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 Visualization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9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Eyad Alaa Abu El-Foutouh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</a:t>
                      </a: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Visualization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9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Abdelrahman Nagy Ahmed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</a:t>
                      </a: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Visualization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9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Mohamed Ali Abd El-Naby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</a:t>
                      </a: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Visualization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2015638" y="2045901"/>
            <a:ext cx="5693510" cy="4471993"/>
          </a:xfrm>
          <a:custGeom>
            <a:avLst/>
            <a:gdLst/>
            <a:ahLst/>
            <a:cxnLst/>
            <a:rect r="r" b="b" t="t" l="l"/>
            <a:pathLst>
              <a:path h="4471993" w="5693510">
                <a:moveTo>
                  <a:pt x="0" y="0"/>
                </a:moveTo>
                <a:lnTo>
                  <a:pt x="5693510" y="0"/>
                </a:lnTo>
                <a:lnTo>
                  <a:pt x="5693510" y="4471993"/>
                </a:lnTo>
                <a:lnTo>
                  <a:pt x="0" y="4471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357" y="2453920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Members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6423912" y="-498685"/>
            <a:ext cx="1244343" cy="1960999"/>
          </a:xfrm>
          <a:custGeom>
            <a:avLst/>
            <a:gdLst/>
            <a:ahLst/>
            <a:cxnLst/>
            <a:rect r="r" b="b" t="t" l="l"/>
            <a:pathLst>
              <a:path h="1960999" w="1244343">
                <a:moveTo>
                  <a:pt x="0" y="0"/>
                </a:moveTo>
                <a:lnTo>
                  <a:pt x="1244343" y="0"/>
                </a:lnTo>
                <a:lnTo>
                  <a:pt x="1244343" y="1960999"/>
                </a:lnTo>
                <a:lnTo>
                  <a:pt x="0" y="1960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557564"/>
            <a:ext cx="7279037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Table of Contents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4566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Project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39239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93912" y="6475512"/>
            <a:ext cx="380699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Dataset Description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4566" y="546586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39239" y="546586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93912" y="546586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52302" y="546586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52302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KPIs and Charts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98559" y="1438574"/>
            <a:ext cx="3493612" cy="1759510"/>
          </a:xfrm>
          <a:custGeom>
            <a:avLst/>
            <a:gdLst/>
            <a:ahLst/>
            <a:cxnLst/>
            <a:rect r="r" b="b" t="t" l="l"/>
            <a:pathLst>
              <a:path h="1759510" w="3493612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9199" y="1438574"/>
            <a:ext cx="2008120" cy="1781750"/>
          </a:xfrm>
          <a:custGeom>
            <a:avLst/>
            <a:gdLst/>
            <a:ahLst/>
            <a:cxnLst/>
            <a:rect r="r" b="b" t="t" l="l"/>
            <a:pathLst>
              <a:path h="1781750" w="2008120">
                <a:moveTo>
                  <a:pt x="0" y="0"/>
                </a:moveTo>
                <a:lnTo>
                  <a:pt x="2008120" y="0"/>
                </a:lnTo>
                <a:lnTo>
                  <a:pt x="2008120" y="1781749"/>
                </a:lnTo>
                <a:lnTo>
                  <a:pt x="0" y="1781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98559" y="3800774"/>
            <a:ext cx="3493612" cy="3493612"/>
          </a:xfrm>
          <a:custGeom>
            <a:avLst/>
            <a:gdLst/>
            <a:ahLst/>
            <a:cxnLst/>
            <a:rect r="r" b="b" t="t" l="l"/>
            <a:pathLst>
              <a:path h="3493612" w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48272" y="1438574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48272" y="6126134"/>
            <a:ext cx="2611028" cy="1428944"/>
          </a:xfrm>
          <a:custGeom>
            <a:avLst/>
            <a:gdLst/>
            <a:ahLst/>
            <a:cxnLst/>
            <a:rect r="r" b="b" t="t" l="l"/>
            <a:pathLst>
              <a:path h="1428944" w="2611028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48272" y="7989418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98559" y="7894461"/>
            <a:ext cx="3493612" cy="1200532"/>
          </a:xfrm>
          <a:custGeom>
            <a:avLst/>
            <a:gdLst/>
            <a:ahLst/>
            <a:cxnLst/>
            <a:rect r="r" b="b" t="t" l="l"/>
            <a:pathLst>
              <a:path h="1200532" w="3493612">
                <a:moveTo>
                  <a:pt x="0" y="0"/>
                </a:moveTo>
                <a:lnTo>
                  <a:pt x="3493612" y="0"/>
                </a:lnTo>
                <a:lnTo>
                  <a:pt x="3493612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45187" y="3960992"/>
            <a:ext cx="1916143" cy="1505043"/>
          </a:xfrm>
          <a:custGeom>
            <a:avLst/>
            <a:gdLst/>
            <a:ahLst/>
            <a:cxnLst/>
            <a:rect r="r" b="b" t="t" l="l"/>
            <a:pathLst>
              <a:path h="1505043" w="1916143">
                <a:moveTo>
                  <a:pt x="0" y="0"/>
                </a:moveTo>
                <a:lnTo>
                  <a:pt x="1916144" y="0"/>
                </a:lnTo>
                <a:lnTo>
                  <a:pt x="1916144" y="1505044"/>
                </a:lnTo>
                <a:lnTo>
                  <a:pt x="0" y="150504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65507" y="6126134"/>
            <a:ext cx="2167480" cy="1087681"/>
          </a:xfrm>
          <a:custGeom>
            <a:avLst/>
            <a:gdLst/>
            <a:ahLst/>
            <a:cxnLst/>
            <a:rect r="r" b="b" t="t" l="l"/>
            <a:pathLst>
              <a:path h="1087681" w="2167480">
                <a:moveTo>
                  <a:pt x="0" y="0"/>
                </a:moveTo>
                <a:lnTo>
                  <a:pt x="2167480" y="0"/>
                </a:lnTo>
                <a:lnTo>
                  <a:pt x="2167480" y="1087681"/>
                </a:lnTo>
                <a:lnTo>
                  <a:pt x="0" y="108768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06927" y="7752407"/>
            <a:ext cx="1484639" cy="1484639"/>
          </a:xfrm>
          <a:custGeom>
            <a:avLst/>
            <a:gdLst/>
            <a:ahLst/>
            <a:cxnLst/>
            <a:rect r="r" b="b" t="t" l="l"/>
            <a:pathLst>
              <a:path h="1484639" w="1484639">
                <a:moveTo>
                  <a:pt x="0" y="0"/>
                </a:moveTo>
                <a:lnTo>
                  <a:pt x="1484640" y="0"/>
                </a:lnTo>
                <a:lnTo>
                  <a:pt x="1484640" y="1484639"/>
                </a:lnTo>
                <a:lnTo>
                  <a:pt x="0" y="148463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1247775"/>
            <a:ext cx="6836807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159984"/>
            <a:ext cx="6084332" cy="562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THI</a:t>
            </a: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 PROJECT FOCUSES ON ANALYZING HUMAN RESOURCES DATA TO UNCOVER ACTIONABLE INSIGHTS INTO EMPLOYEE DEMOGRAPHICS, PERFORMANCE, SALARY DISPARITIES, AND ATTRITION.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BY LEVERAGING MICROSOFT POWER BI, WE BUILT AN END-TO-END ANALYTICS PIPELINE—FROM DATA INGESTION AND CLEANING USING POWER QUERY TO ROBUST DAX MEASURES AND AN OPTIMIZED STAR SCHEMA MODEL. THE RESULTING INTERACTIVE DASHBOARDS EMPOWER BUSINESS LEADERS TO MAKE DATA-DRIVEN DECISIONS THAT ENHANCE EMPLOYEE RETENTION AND OPERATIONAL EFFICIENCY.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230341" y="1538288"/>
          <a:ext cx="9762259" cy="7153275"/>
        </p:xfrm>
        <a:graphic>
          <a:graphicData uri="http://schemas.openxmlformats.org/drawingml/2006/table">
            <a:tbl>
              <a:tblPr/>
              <a:tblGrid>
                <a:gridCol w="8386265"/>
              </a:tblGrid>
              <a:tr h="7153275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EmployeeID - Unique identifier for an individual employee</a:t>
                      </a:r>
                      <a:endParaRPr lang="en-US" sz="1100"/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FirstName &amp; LastName - Employee's name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Gender &amp; Age - Demographic information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Department &amp; JobRole - Organizational placement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DistanceFromHome (KM) - Distance to workplace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Education &amp; EducationField - Educational background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MaritalStatus - Marital status of the employee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Salary - Employee compensation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OverTime - Whether the employee works overtime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HireDate - Date the employee joined the company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Attrition - Whether the employee has left the company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YearsAtCompany - Total tenure at the company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YearsSinceLastPromotion - Time since last promotion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PerformanceID - Unique identifier for a performance review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JobSatisfaction &amp; EnvironmentSatisfaction - Employee satisfaction ratings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WorkLifeBalance - Rating of the employee's work-life balance</a:t>
                      </a:r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SelfRating &amp; ManagerRating - Performance evaluation scores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028700" y="7829356"/>
            <a:ext cx="2611028" cy="1428944"/>
          </a:xfrm>
          <a:custGeom>
            <a:avLst/>
            <a:gdLst/>
            <a:ahLst/>
            <a:cxnLst/>
            <a:rect r="r" b="b" t="t" l="l"/>
            <a:pathLst>
              <a:path h="1428944" w="2611028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333145"/>
            <a:ext cx="5660824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Description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28700" y="4292535"/>
            <a:ext cx="13838306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5074698" y="3103895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7082" y="797157"/>
            <a:ext cx="5683548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Problems of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7082" y="5612040"/>
            <a:ext cx="2277734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Empty Cells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005388" y="5640615"/>
            <a:ext cx="2903778" cy="2044167"/>
            <a:chOff x="0" y="0"/>
            <a:chExt cx="3871704" cy="27255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3871704" cy="1624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Data Type Inconsistencies</a:t>
              </a:r>
            </a:p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61159"/>
              <a:ext cx="3036979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82075" y="5640615"/>
            <a:ext cx="3017604" cy="2044167"/>
            <a:chOff x="0" y="0"/>
            <a:chExt cx="4023473" cy="272555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8575"/>
              <a:ext cx="4023473" cy="1624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Flat File (Needs Star Schema)</a:t>
              </a:r>
            </a:p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261159"/>
              <a:ext cx="3036979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63582" y="5640615"/>
            <a:ext cx="4123962" cy="1225017"/>
            <a:chOff x="0" y="0"/>
            <a:chExt cx="5498615" cy="163335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5498615" cy="107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Outliers in Salary</a:t>
              </a:r>
            </a:p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168959"/>
              <a:ext cx="5498615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005388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982075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958763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56423" y="1883102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0029" y="1460242"/>
            <a:ext cx="10046729" cy="7095425"/>
          </a:xfrm>
          <a:custGeom>
            <a:avLst/>
            <a:gdLst/>
            <a:ahLst/>
            <a:cxnLst/>
            <a:rect r="r" b="b" t="t" l="l"/>
            <a:pathLst>
              <a:path h="7095425" w="10046729">
                <a:moveTo>
                  <a:pt x="0" y="0"/>
                </a:moveTo>
                <a:lnTo>
                  <a:pt x="10046729" y="0"/>
                </a:lnTo>
                <a:lnTo>
                  <a:pt x="10046729" y="7095425"/>
                </a:lnTo>
                <a:lnTo>
                  <a:pt x="0" y="7095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55907" y="4218713"/>
            <a:ext cx="7203393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Semantic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210675"/>
            <a:ext cx="954938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 optimized relational data model utilizing a star schema for fast aggregations and clean relationships in Power BI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2705" y="7258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7163" y="1123950"/>
            <a:ext cx="8829395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Performance Rating Fact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72705" y="835603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3733" y="835603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23733" y="7258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74144" y="2937900"/>
            <a:ext cx="8666798" cy="627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  <a:spcBef>
                <a:spcPct val="0"/>
              </a:spcBef>
            </a:pPr>
            <a:r>
              <a:rPr lang="en-US" b="true" sz="386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b="true" sz="386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olumns</a:t>
            </a:r>
          </a:p>
          <a:p>
            <a:pPr algn="l">
              <a:lnSpc>
                <a:spcPts val="5023"/>
              </a:lnSpc>
              <a:spcBef>
                <a:spcPct val="0"/>
              </a:spcBef>
            </a:pPr>
          </a:p>
          <a:p>
            <a:pPr algn="l" marL="834364" indent="-417182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38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EmployeeID</a:t>
            </a:r>
          </a:p>
          <a:p>
            <a:pPr algn="l" marL="834364" indent="-417182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38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EnvironmentSatisfaction</a:t>
            </a:r>
          </a:p>
          <a:p>
            <a:pPr algn="l" marL="834364" indent="-417182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38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EnvironmentSatisfactionStatus</a:t>
            </a:r>
          </a:p>
          <a:p>
            <a:pPr algn="l" marL="834364" indent="-417182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38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JobSatisfaction</a:t>
            </a:r>
          </a:p>
          <a:p>
            <a:pPr algn="l" marL="834364" indent="-417182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38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JobSatisfactionStatus</a:t>
            </a:r>
          </a:p>
          <a:p>
            <a:pPr algn="l" marL="834364" indent="-417182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38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ManagerRating</a:t>
            </a:r>
          </a:p>
          <a:p>
            <a:pPr algn="l" marL="834364" indent="-417182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38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PerformanceCategory</a:t>
            </a:r>
          </a:p>
          <a:p>
            <a:pPr algn="l" marL="834364" indent="-417182" lvl="1">
              <a:lnSpc>
                <a:spcPts val="5023"/>
              </a:lnSpc>
              <a:spcBef>
                <a:spcPct val="0"/>
              </a:spcBef>
              <a:buFont typeface="Arial"/>
              <a:buChar char="•"/>
            </a:pPr>
            <a:r>
              <a:rPr lang="en-US" sz="38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PerformanceID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988380" y="2799845"/>
            <a:ext cx="1807583" cy="2848626"/>
          </a:xfrm>
          <a:custGeom>
            <a:avLst/>
            <a:gdLst/>
            <a:ahLst/>
            <a:cxnLst/>
            <a:rect r="r" b="b" t="t" l="l"/>
            <a:pathLst>
              <a:path h="2848626" w="1807583">
                <a:moveTo>
                  <a:pt x="0" y="0"/>
                </a:moveTo>
                <a:lnTo>
                  <a:pt x="1807583" y="0"/>
                </a:lnTo>
                <a:lnTo>
                  <a:pt x="1807583" y="2848626"/>
                </a:lnTo>
                <a:lnTo>
                  <a:pt x="0" y="28486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15582" y="5851721"/>
            <a:ext cx="2611028" cy="1428944"/>
          </a:xfrm>
          <a:custGeom>
            <a:avLst/>
            <a:gdLst/>
            <a:ahLst/>
            <a:cxnLst/>
            <a:rect r="r" b="b" t="t" l="l"/>
            <a:pathLst>
              <a:path h="1428944" w="2611028">
                <a:moveTo>
                  <a:pt x="0" y="0"/>
                </a:moveTo>
                <a:lnTo>
                  <a:pt x="2611027" y="0"/>
                </a:lnTo>
                <a:lnTo>
                  <a:pt x="2611027" y="1428945"/>
                </a:lnTo>
                <a:lnTo>
                  <a:pt x="0" y="14289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10068" y="7871216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4"/>
                </a:lnTo>
                <a:lnTo>
                  <a:pt x="0" y="10206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24399" y="8658034"/>
            <a:ext cx="3493612" cy="1200532"/>
          </a:xfrm>
          <a:custGeom>
            <a:avLst/>
            <a:gdLst/>
            <a:ahLst/>
            <a:cxnLst/>
            <a:rect r="r" b="b" t="t" l="l"/>
            <a:pathLst>
              <a:path h="1200532" w="3493612">
                <a:moveTo>
                  <a:pt x="0" y="0"/>
                </a:moveTo>
                <a:lnTo>
                  <a:pt x="3493613" y="0"/>
                </a:lnTo>
                <a:lnTo>
                  <a:pt x="3493613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2705" y="7258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2705" y="835603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3733" y="835603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3733" y="7258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37163" y="1322212"/>
            <a:ext cx="1097338" cy="293930"/>
            <a:chOff x="0" y="0"/>
            <a:chExt cx="711200" cy="190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2700"/>
              <a:ext cx="7112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628771" y="1322212"/>
            <a:ext cx="1097338" cy="293930"/>
            <a:chOff x="0" y="0"/>
            <a:chExt cx="711200" cy="190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2700"/>
              <a:ext cx="7112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132125" y="1123950"/>
            <a:ext cx="6239470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Dimension Tables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2705" y="2923482"/>
            <a:ext cx="4803696" cy="385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2"/>
              </a:lnSpc>
              <a:spcBef>
                <a:spcPct val="0"/>
              </a:spcBef>
            </a:pP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Date Dim C</a:t>
            </a: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olumns</a:t>
            </a:r>
          </a:p>
          <a:p>
            <a:pPr algn="l">
              <a:lnSpc>
                <a:spcPts val="4392"/>
              </a:lnSpc>
              <a:spcBef>
                <a:spcPct val="0"/>
              </a:spcBef>
            </a:pPr>
          </a:p>
          <a:p>
            <a:pPr algn="l" marL="729548" indent="-364774" lvl="1">
              <a:lnSpc>
                <a:spcPts val="4392"/>
              </a:lnSpc>
              <a:spcBef>
                <a:spcPct val="0"/>
              </a:spcBef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Date (Primary Key)</a:t>
            </a:r>
          </a:p>
          <a:p>
            <a:pPr algn="l" marL="729548" indent="-364774" lvl="1">
              <a:lnSpc>
                <a:spcPts val="4392"/>
              </a:lnSpc>
              <a:spcBef>
                <a:spcPct val="0"/>
              </a:spcBef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</a:t>
            </a: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nth</a:t>
            </a:r>
          </a:p>
          <a:p>
            <a:pPr algn="l" marL="729548" indent="-364774" lvl="1">
              <a:lnSpc>
                <a:spcPts val="4392"/>
              </a:lnSpc>
              <a:spcBef>
                <a:spcPct val="0"/>
              </a:spcBef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Month Name</a:t>
            </a:r>
          </a:p>
          <a:p>
            <a:pPr algn="l" marL="729548" indent="-364774" lvl="1">
              <a:lnSpc>
                <a:spcPts val="4392"/>
              </a:lnSpc>
              <a:spcBef>
                <a:spcPct val="0"/>
              </a:spcBef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Quarter</a:t>
            </a:r>
          </a:p>
          <a:p>
            <a:pPr algn="l" marL="729548" indent="-364774" lvl="1">
              <a:lnSpc>
                <a:spcPts val="4392"/>
              </a:lnSpc>
              <a:spcBef>
                <a:spcPct val="0"/>
              </a:spcBef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2705" y="7498720"/>
            <a:ext cx="6856452" cy="219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2"/>
              </a:lnSpc>
              <a:spcBef>
                <a:spcPct val="0"/>
              </a:spcBef>
            </a:pP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SatisfiedLevel Dim C</a:t>
            </a: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olumns</a:t>
            </a:r>
          </a:p>
          <a:p>
            <a:pPr algn="l">
              <a:lnSpc>
                <a:spcPts val="4392"/>
              </a:lnSpc>
              <a:spcBef>
                <a:spcPct val="0"/>
              </a:spcBef>
            </a:pPr>
          </a:p>
          <a:p>
            <a:pPr algn="l" marL="729548" indent="-364774" lvl="1">
              <a:lnSpc>
                <a:spcPts val="4392"/>
              </a:lnSpc>
              <a:spcBef>
                <a:spcPct val="0"/>
              </a:spcBef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SatisfactionID (Primary Key)</a:t>
            </a:r>
          </a:p>
          <a:p>
            <a:pPr algn="l" marL="729548" indent="-364774" lvl="1">
              <a:lnSpc>
                <a:spcPts val="4392"/>
              </a:lnSpc>
              <a:spcBef>
                <a:spcPct val="0"/>
              </a:spcBef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</a:t>
            </a: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tisfactionLevel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2013" y="7498720"/>
            <a:ext cx="5715000" cy="219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2"/>
              </a:lnSpc>
              <a:spcBef>
                <a:spcPct val="0"/>
              </a:spcBef>
            </a:pP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RatingLevel Dim C</a:t>
            </a: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olumns</a:t>
            </a:r>
          </a:p>
          <a:p>
            <a:pPr algn="l">
              <a:lnSpc>
                <a:spcPts val="4392"/>
              </a:lnSpc>
              <a:spcBef>
                <a:spcPct val="0"/>
              </a:spcBef>
            </a:pPr>
          </a:p>
          <a:p>
            <a:pPr algn="l" marL="729548" indent="-364774" lvl="1">
              <a:lnSpc>
                <a:spcPts val="4392"/>
              </a:lnSpc>
              <a:spcBef>
                <a:spcPct val="0"/>
              </a:spcBef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RatingID (Primary Key)</a:t>
            </a:r>
          </a:p>
          <a:p>
            <a:pPr algn="l" marL="729548" indent="-364774" lvl="1">
              <a:lnSpc>
                <a:spcPts val="4392"/>
              </a:lnSpc>
              <a:spcBef>
                <a:spcPct val="0"/>
              </a:spcBef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</a:t>
            </a: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tingLevel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32013" y="2923482"/>
            <a:ext cx="7556302" cy="219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4"/>
              </a:lnSpc>
              <a:spcBef>
                <a:spcPct val="0"/>
              </a:spcBef>
            </a:pPr>
            <a:r>
              <a:rPr lang="en-US" b="true" sz="33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EducationLevel Dim C</a:t>
            </a:r>
            <a:r>
              <a:rPr lang="en-US" b="true" sz="33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olumns</a:t>
            </a:r>
          </a:p>
          <a:p>
            <a:pPr algn="l">
              <a:lnSpc>
                <a:spcPts val="4394"/>
              </a:lnSpc>
              <a:spcBef>
                <a:spcPct val="0"/>
              </a:spcBef>
            </a:pPr>
          </a:p>
          <a:p>
            <a:pPr algn="l" marL="729743" indent="-364871" lvl="1">
              <a:lnSpc>
                <a:spcPts val="4394"/>
              </a:lnSpc>
              <a:spcBef>
                <a:spcPct val="0"/>
              </a:spcBef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EducationLevelID (Primary Key)</a:t>
            </a:r>
          </a:p>
          <a:p>
            <a:pPr algn="l" marL="729743" indent="-364871" lvl="1">
              <a:lnSpc>
                <a:spcPts val="4394"/>
              </a:lnSpc>
              <a:spcBef>
                <a:spcPct val="0"/>
              </a:spcBef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Educa</a:t>
            </a:r>
            <a:r>
              <a:rPr lang="en-US" sz="33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tionLevel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49280" y="1206223"/>
            <a:ext cx="6251340" cy="8052077"/>
          </a:xfrm>
          <a:custGeom>
            <a:avLst/>
            <a:gdLst/>
            <a:ahLst/>
            <a:cxnLst/>
            <a:rect r="r" b="b" t="t" l="l"/>
            <a:pathLst>
              <a:path h="8052077" w="6251340">
                <a:moveTo>
                  <a:pt x="0" y="0"/>
                </a:moveTo>
                <a:lnTo>
                  <a:pt x="6251340" y="0"/>
                </a:lnTo>
                <a:lnTo>
                  <a:pt x="6251340" y="8052077"/>
                </a:lnTo>
                <a:lnTo>
                  <a:pt x="0" y="8052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8765" y="3416242"/>
            <a:ext cx="11175131" cy="244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64"/>
              </a:lnSpc>
              <a:spcBef>
                <a:spcPct val="0"/>
              </a:spcBef>
            </a:pPr>
            <a:r>
              <a:rPr lang="en-US" sz="11621" spc="-91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KPIS and Charts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2705" y="7258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2705" y="835603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3733" y="835603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3733" y="7258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156222" y="3129166"/>
            <a:ext cx="7535021" cy="4825018"/>
            <a:chOff x="0" y="0"/>
            <a:chExt cx="1984532" cy="12707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4532" cy="1270787"/>
            </a:xfrm>
            <a:custGeom>
              <a:avLst/>
              <a:gdLst/>
              <a:ahLst/>
              <a:cxnLst/>
              <a:rect r="r" b="b" t="t" l="l"/>
              <a:pathLst>
                <a:path h="1270787" w="1984532">
                  <a:moveTo>
                    <a:pt x="52400" y="0"/>
                  </a:moveTo>
                  <a:lnTo>
                    <a:pt x="1932132" y="0"/>
                  </a:lnTo>
                  <a:cubicBezTo>
                    <a:pt x="1946029" y="0"/>
                    <a:pt x="1959358" y="5521"/>
                    <a:pt x="1969184" y="15348"/>
                  </a:cubicBezTo>
                  <a:cubicBezTo>
                    <a:pt x="1979011" y="25175"/>
                    <a:pt x="1984532" y="38503"/>
                    <a:pt x="1984532" y="52400"/>
                  </a:cubicBezTo>
                  <a:lnTo>
                    <a:pt x="1984532" y="1218386"/>
                  </a:lnTo>
                  <a:cubicBezTo>
                    <a:pt x="1984532" y="1247326"/>
                    <a:pt x="1961072" y="1270787"/>
                    <a:pt x="1932132" y="1270787"/>
                  </a:cubicBezTo>
                  <a:lnTo>
                    <a:pt x="52400" y="1270787"/>
                  </a:lnTo>
                  <a:cubicBezTo>
                    <a:pt x="38503" y="1270787"/>
                    <a:pt x="25175" y="1265266"/>
                    <a:pt x="15348" y="1255439"/>
                  </a:cubicBezTo>
                  <a:cubicBezTo>
                    <a:pt x="5521" y="1245612"/>
                    <a:pt x="0" y="1232284"/>
                    <a:pt x="0" y="1218386"/>
                  </a:cubicBezTo>
                  <a:lnTo>
                    <a:pt x="0" y="52400"/>
                  </a:lnTo>
                  <a:cubicBezTo>
                    <a:pt x="0" y="38503"/>
                    <a:pt x="5521" y="25175"/>
                    <a:pt x="15348" y="15348"/>
                  </a:cubicBezTo>
                  <a:cubicBezTo>
                    <a:pt x="25175" y="5521"/>
                    <a:pt x="38503" y="0"/>
                    <a:pt x="52400" y="0"/>
                  </a:cubicBezTo>
                  <a:close/>
                </a:path>
              </a:pathLst>
            </a:custGeom>
            <a:solidFill>
              <a:srgbClr val="C2A68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84532" cy="1308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08072" y="3129166"/>
            <a:ext cx="7535021" cy="4825018"/>
            <a:chOff x="0" y="0"/>
            <a:chExt cx="1984532" cy="12707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4532" cy="1270787"/>
            </a:xfrm>
            <a:custGeom>
              <a:avLst/>
              <a:gdLst/>
              <a:ahLst/>
              <a:cxnLst/>
              <a:rect r="r" b="b" t="t" l="l"/>
              <a:pathLst>
                <a:path h="1270787" w="1984532">
                  <a:moveTo>
                    <a:pt x="52400" y="0"/>
                  </a:moveTo>
                  <a:lnTo>
                    <a:pt x="1932132" y="0"/>
                  </a:lnTo>
                  <a:cubicBezTo>
                    <a:pt x="1946029" y="0"/>
                    <a:pt x="1959358" y="5521"/>
                    <a:pt x="1969184" y="15348"/>
                  </a:cubicBezTo>
                  <a:cubicBezTo>
                    <a:pt x="1979011" y="25175"/>
                    <a:pt x="1984532" y="38503"/>
                    <a:pt x="1984532" y="52400"/>
                  </a:cubicBezTo>
                  <a:lnTo>
                    <a:pt x="1984532" y="1218386"/>
                  </a:lnTo>
                  <a:cubicBezTo>
                    <a:pt x="1984532" y="1247326"/>
                    <a:pt x="1961072" y="1270787"/>
                    <a:pt x="1932132" y="1270787"/>
                  </a:cubicBezTo>
                  <a:lnTo>
                    <a:pt x="52400" y="1270787"/>
                  </a:lnTo>
                  <a:cubicBezTo>
                    <a:pt x="38503" y="1270787"/>
                    <a:pt x="25175" y="1265266"/>
                    <a:pt x="15348" y="1255439"/>
                  </a:cubicBezTo>
                  <a:cubicBezTo>
                    <a:pt x="5521" y="1245612"/>
                    <a:pt x="0" y="1232284"/>
                    <a:pt x="0" y="1218386"/>
                  </a:cubicBezTo>
                  <a:lnTo>
                    <a:pt x="0" y="52400"/>
                  </a:lnTo>
                  <a:cubicBezTo>
                    <a:pt x="0" y="38503"/>
                    <a:pt x="5521" y="25175"/>
                    <a:pt x="15348" y="15348"/>
                  </a:cubicBezTo>
                  <a:cubicBezTo>
                    <a:pt x="25175" y="5521"/>
                    <a:pt x="38503" y="0"/>
                    <a:pt x="52400" y="0"/>
                  </a:cubicBezTo>
                  <a:close/>
                </a:path>
              </a:pathLst>
            </a:custGeom>
            <a:solidFill>
              <a:srgbClr val="C2A68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84532" cy="1308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37163" y="1123950"/>
            <a:ext cx="8829395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KPIs Categories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66970" y="4153433"/>
            <a:ext cx="6146721" cy="274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Total &amp; Active Employees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Attrition Count &amp; Rate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Gender Diversity Ratio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Average Age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Average Tenure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97916" y="4153433"/>
            <a:ext cx="6181130" cy="274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Total Payroll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Average &amp; Median Salary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Salary Range (Min/Max)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Promotion Recency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Overtime Rate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12307" y="3369656"/>
            <a:ext cx="5726549" cy="53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  <a:spcBef>
                <a:spcPct val="0"/>
              </a:spcBef>
            </a:pP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Attriti</a:t>
            </a: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 &amp; Demographics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0867" y="3369656"/>
            <a:ext cx="6805732" cy="53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  <a:spcBef>
                <a:spcPct val="0"/>
              </a:spcBef>
            </a:pP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Compensati</a:t>
            </a: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 &amp; Performance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837163" y="1281191"/>
            <a:ext cx="1403628" cy="375972"/>
            <a:chOff x="0" y="0"/>
            <a:chExt cx="711200" cy="190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2700"/>
              <a:ext cx="7112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62930" y="1281191"/>
            <a:ext cx="1403628" cy="375972"/>
            <a:chOff x="0" y="0"/>
            <a:chExt cx="711200" cy="190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2700"/>
              <a:ext cx="7112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2705" y="7258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2705" y="835603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3733" y="835603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3733" y="7258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165049" y="3129166"/>
            <a:ext cx="9957901" cy="4825018"/>
            <a:chOff x="0" y="0"/>
            <a:chExt cx="2622657" cy="12707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22657" cy="1270787"/>
            </a:xfrm>
            <a:custGeom>
              <a:avLst/>
              <a:gdLst/>
              <a:ahLst/>
              <a:cxnLst/>
              <a:rect r="r" b="b" t="t" l="l"/>
              <a:pathLst>
                <a:path h="1270787" w="2622657">
                  <a:moveTo>
                    <a:pt x="39651" y="0"/>
                  </a:moveTo>
                  <a:lnTo>
                    <a:pt x="2583006" y="0"/>
                  </a:lnTo>
                  <a:cubicBezTo>
                    <a:pt x="2604905" y="0"/>
                    <a:pt x="2622657" y="17752"/>
                    <a:pt x="2622657" y="39651"/>
                  </a:cubicBezTo>
                  <a:lnTo>
                    <a:pt x="2622657" y="1231136"/>
                  </a:lnTo>
                  <a:cubicBezTo>
                    <a:pt x="2622657" y="1253034"/>
                    <a:pt x="2604905" y="1270787"/>
                    <a:pt x="2583006" y="1270787"/>
                  </a:cubicBezTo>
                  <a:lnTo>
                    <a:pt x="39651" y="1270787"/>
                  </a:lnTo>
                  <a:cubicBezTo>
                    <a:pt x="17752" y="1270787"/>
                    <a:pt x="0" y="1253034"/>
                    <a:pt x="0" y="1231136"/>
                  </a:cubicBezTo>
                  <a:lnTo>
                    <a:pt x="0" y="39651"/>
                  </a:lnTo>
                  <a:cubicBezTo>
                    <a:pt x="0" y="17752"/>
                    <a:pt x="17752" y="0"/>
                    <a:pt x="39651" y="0"/>
                  </a:cubicBezTo>
                  <a:close/>
                </a:path>
              </a:pathLst>
            </a:custGeom>
            <a:solidFill>
              <a:srgbClr val="C2A68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22657" cy="1308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37163" y="1123950"/>
            <a:ext cx="8829395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Charts Categories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73723" y="4153433"/>
            <a:ext cx="9556275" cy="274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Attriti</a:t>
            </a: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 by Department &amp; Job Role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Attrition by Overtime Status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Active vs. Attrited Employees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Workforce Age Distribution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Gender Distribution (Male vs. Female %)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80725" y="3324489"/>
            <a:ext cx="5726549" cy="53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  <a:spcBef>
                <a:spcPct val="0"/>
              </a:spcBef>
            </a:pP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Attriti</a:t>
            </a: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 &amp; Demographics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84788" y="1331050"/>
            <a:ext cx="1031349" cy="276254"/>
            <a:chOff x="0" y="0"/>
            <a:chExt cx="711200" cy="190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2700"/>
              <a:ext cx="7112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82834" y="1331050"/>
            <a:ext cx="1031349" cy="276254"/>
            <a:chOff x="0" y="0"/>
            <a:chExt cx="711200" cy="190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2700"/>
              <a:ext cx="7112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2705" y="7258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2705" y="835603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3733" y="835603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3733" y="7258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165049" y="3129166"/>
            <a:ext cx="9957901" cy="4825018"/>
            <a:chOff x="0" y="0"/>
            <a:chExt cx="2622657" cy="12707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22657" cy="1270787"/>
            </a:xfrm>
            <a:custGeom>
              <a:avLst/>
              <a:gdLst/>
              <a:ahLst/>
              <a:cxnLst/>
              <a:rect r="r" b="b" t="t" l="l"/>
              <a:pathLst>
                <a:path h="1270787" w="2622657">
                  <a:moveTo>
                    <a:pt x="39651" y="0"/>
                  </a:moveTo>
                  <a:lnTo>
                    <a:pt x="2583006" y="0"/>
                  </a:lnTo>
                  <a:cubicBezTo>
                    <a:pt x="2604905" y="0"/>
                    <a:pt x="2622657" y="17752"/>
                    <a:pt x="2622657" y="39651"/>
                  </a:cubicBezTo>
                  <a:lnTo>
                    <a:pt x="2622657" y="1231136"/>
                  </a:lnTo>
                  <a:cubicBezTo>
                    <a:pt x="2622657" y="1253034"/>
                    <a:pt x="2604905" y="1270787"/>
                    <a:pt x="2583006" y="1270787"/>
                  </a:cubicBezTo>
                  <a:lnTo>
                    <a:pt x="39651" y="1270787"/>
                  </a:lnTo>
                  <a:cubicBezTo>
                    <a:pt x="17752" y="1270787"/>
                    <a:pt x="0" y="1253034"/>
                    <a:pt x="0" y="1231136"/>
                  </a:cubicBezTo>
                  <a:lnTo>
                    <a:pt x="0" y="39651"/>
                  </a:lnTo>
                  <a:cubicBezTo>
                    <a:pt x="0" y="17752"/>
                    <a:pt x="17752" y="0"/>
                    <a:pt x="39651" y="0"/>
                  </a:cubicBezTo>
                  <a:close/>
                </a:path>
              </a:pathLst>
            </a:custGeom>
            <a:solidFill>
              <a:srgbClr val="C2A68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22657" cy="1308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37163" y="1123950"/>
            <a:ext cx="8829395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Charts Categories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73723" y="4153433"/>
            <a:ext cx="9556275" cy="274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Average</a:t>
            </a: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Salary by Job Role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Salary Outlier Bounds (IQR Method)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Performance Rating by Department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Job &amp; Environment Satisfaction Levels</a:t>
            </a:r>
          </a:p>
          <a:p>
            <a:pPr algn="l" marL="729548" indent="-364774" lvl="1">
              <a:lnSpc>
                <a:spcPts val="4392"/>
              </a:lnSpc>
              <a:buFont typeface="Arial"/>
              <a:buChar char="•"/>
            </a:pPr>
            <a:r>
              <a:rPr lang="en-US" sz="33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Salary vs. Years at Company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41134" y="3324489"/>
            <a:ext cx="6805732" cy="53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  <a:spcBef>
                <a:spcPct val="0"/>
              </a:spcBef>
            </a:pP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Compensati</a:t>
            </a:r>
            <a:r>
              <a:rPr lang="en-US" b="true" sz="33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 &amp; Performance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84788" y="1331050"/>
            <a:ext cx="1031349" cy="276254"/>
            <a:chOff x="0" y="0"/>
            <a:chExt cx="711200" cy="190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2700"/>
              <a:ext cx="7112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82834" y="1331050"/>
            <a:ext cx="1031349" cy="276254"/>
            <a:chOff x="0" y="0"/>
            <a:chExt cx="711200" cy="190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2700"/>
              <a:ext cx="7112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08637" y="2003094"/>
            <a:ext cx="13022776" cy="7647938"/>
            <a:chOff x="0" y="0"/>
            <a:chExt cx="3429867" cy="2014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9867" cy="2014272"/>
            </a:xfrm>
            <a:custGeom>
              <a:avLst/>
              <a:gdLst/>
              <a:ahLst/>
              <a:cxnLst/>
              <a:rect r="r" b="b" t="t" l="l"/>
              <a:pathLst>
                <a:path h="2014272" w="3429867">
                  <a:moveTo>
                    <a:pt x="30319" y="0"/>
                  </a:moveTo>
                  <a:lnTo>
                    <a:pt x="3399548" y="0"/>
                  </a:lnTo>
                  <a:cubicBezTo>
                    <a:pt x="3416293" y="0"/>
                    <a:pt x="3429867" y="13574"/>
                    <a:pt x="3429867" y="30319"/>
                  </a:cubicBezTo>
                  <a:lnTo>
                    <a:pt x="3429867" y="1983953"/>
                  </a:lnTo>
                  <a:cubicBezTo>
                    <a:pt x="3429867" y="1991994"/>
                    <a:pt x="3426673" y="1999705"/>
                    <a:pt x="3420987" y="2005391"/>
                  </a:cubicBezTo>
                  <a:cubicBezTo>
                    <a:pt x="3415301" y="2011077"/>
                    <a:pt x="3407589" y="2014272"/>
                    <a:pt x="3399548" y="2014272"/>
                  </a:cubicBezTo>
                  <a:lnTo>
                    <a:pt x="30319" y="2014272"/>
                  </a:lnTo>
                  <a:cubicBezTo>
                    <a:pt x="22278" y="2014272"/>
                    <a:pt x="14566" y="2011077"/>
                    <a:pt x="8880" y="2005391"/>
                  </a:cubicBezTo>
                  <a:cubicBezTo>
                    <a:pt x="3194" y="1999705"/>
                    <a:pt x="0" y="1991994"/>
                    <a:pt x="0" y="1983953"/>
                  </a:cubicBezTo>
                  <a:lnTo>
                    <a:pt x="0" y="30319"/>
                  </a:lnTo>
                  <a:cubicBezTo>
                    <a:pt x="0" y="22278"/>
                    <a:pt x="3194" y="14566"/>
                    <a:pt x="8880" y="8880"/>
                  </a:cubicBezTo>
                  <a:cubicBezTo>
                    <a:pt x="14566" y="3194"/>
                    <a:pt x="22278" y="0"/>
                    <a:pt x="30319" y="0"/>
                  </a:cubicBez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29867" cy="2052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78476" y="2432103"/>
            <a:ext cx="12280824" cy="6826197"/>
          </a:xfrm>
          <a:custGeom>
            <a:avLst/>
            <a:gdLst/>
            <a:ahLst/>
            <a:cxnLst/>
            <a:rect r="r" b="b" t="t" l="l"/>
            <a:pathLst>
              <a:path h="6826197" w="12280824">
                <a:moveTo>
                  <a:pt x="0" y="0"/>
                </a:moveTo>
                <a:lnTo>
                  <a:pt x="12280824" y="0"/>
                </a:lnTo>
                <a:lnTo>
                  <a:pt x="12280824" y="6826197"/>
                </a:lnTo>
                <a:lnTo>
                  <a:pt x="0" y="6826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69357"/>
            <a:ext cx="6118024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Executive Summary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08637" y="2003094"/>
            <a:ext cx="13022776" cy="7647938"/>
            <a:chOff x="0" y="0"/>
            <a:chExt cx="3429867" cy="2014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9867" cy="2014272"/>
            </a:xfrm>
            <a:custGeom>
              <a:avLst/>
              <a:gdLst/>
              <a:ahLst/>
              <a:cxnLst/>
              <a:rect r="r" b="b" t="t" l="l"/>
              <a:pathLst>
                <a:path h="2014272" w="3429867">
                  <a:moveTo>
                    <a:pt x="30319" y="0"/>
                  </a:moveTo>
                  <a:lnTo>
                    <a:pt x="3399548" y="0"/>
                  </a:lnTo>
                  <a:cubicBezTo>
                    <a:pt x="3416293" y="0"/>
                    <a:pt x="3429867" y="13574"/>
                    <a:pt x="3429867" y="30319"/>
                  </a:cubicBezTo>
                  <a:lnTo>
                    <a:pt x="3429867" y="1983953"/>
                  </a:lnTo>
                  <a:cubicBezTo>
                    <a:pt x="3429867" y="1991994"/>
                    <a:pt x="3426673" y="1999705"/>
                    <a:pt x="3420987" y="2005391"/>
                  </a:cubicBezTo>
                  <a:cubicBezTo>
                    <a:pt x="3415301" y="2011077"/>
                    <a:pt x="3407589" y="2014272"/>
                    <a:pt x="3399548" y="2014272"/>
                  </a:cubicBezTo>
                  <a:lnTo>
                    <a:pt x="30319" y="2014272"/>
                  </a:lnTo>
                  <a:cubicBezTo>
                    <a:pt x="22278" y="2014272"/>
                    <a:pt x="14566" y="2011077"/>
                    <a:pt x="8880" y="2005391"/>
                  </a:cubicBezTo>
                  <a:cubicBezTo>
                    <a:pt x="3194" y="1999705"/>
                    <a:pt x="0" y="1991994"/>
                    <a:pt x="0" y="1983953"/>
                  </a:cubicBezTo>
                  <a:lnTo>
                    <a:pt x="0" y="30319"/>
                  </a:lnTo>
                  <a:cubicBezTo>
                    <a:pt x="0" y="22278"/>
                    <a:pt x="3194" y="14566"/>
                    <a:pt x="8880" y="8880"/>
                  </a:cubicBezTo>
                  <a:cubicBezTo>
                    <a:pt x="14566" y="3194"/>
                    <a:pt x="22278" y="0"/>
                    <a:pt x="30319" y="0"/>
                  </a:cubicBez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29867" cy="2052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80751" y="2395826"/>
            <a:ext cx="12278549" cy="6862474"/>
          </a:xfrm>
          <a:custGeom>
            <a:avLst/>
            <a:gdLst/>
            <a:ahLst/>
            <a:cxnLst/>
            <a:rect r="r" b="b" t="t" l="l"/>
            <a:pathLst>
              <a:path h="6862474" w="12278549">
                <a:moveTo>
                  <a:pt x="0" y="0"/>
                </a:moveTo>
                <a:lnTo>
                  <a:pt x="12278549" y="0"/>
                </a:lnTo>
                <a:lnTo>
                  <a:pt x="12278549" y="6862474"/>
                </a:lnTo>
                <a:lnTo>
                  <a:pt x="0" y="6862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69357"/>
            <a:ext cx="6118024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Executive Summary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6814" y="828593"/>
            <a:ext cx="17824937" cy="140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9"/>
              </a:lnSpc>
            </a:pPr>
            <a:r>
              <a:rPr lang="en-US" sz="12473" spc="-9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insights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36814" y="2398784"/>
            <a:ext cx="17420881" cy="7116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2"/>
              </a:lnSpc>
            </a:pPr>
            <a:r>
              <a:rPr lang="en-US" sz="4400" spc="-3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1-Executive Summary &amp; Geographic Distribution</a:t>
            </a:r>
          </a:p>
          <a:p>
            <a:pPr algn="just">
              <a:lnSpc>
                <a:spcPts val="3432"/>
              </a:lnSpc>
            </a:pP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Workforce Breakdown: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company manages a total of 1,470 employees, with 1,233 active staff and an overall attrition count of 237. This yields a high overall Attrition Rate of 16.12%.</a:t>
            </a:r>
          </a:p>
          <a:p>
            <a:pPr algn="just">
              <a:lnSpc>
                <a:spcPts val="4200"/>
              </a:lnSpc>
            </a:pP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Demographic Profile: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workforce leans incredibly young, with an Average Employee Age of 29 and a stable Average Tenure of 4.6 years.</a:t>
            </a:r>
          </a:p>
          <a:p>
            <a:pPr algn="just">
              <a:lnSpc>
                <a:spcPts val="4200"/>
              </a:lnSpc>
            </a:pP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Gender Balance: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organization has a healthy gender split—45.92% Female, 44.29% Male, and 8.44% Non-Binary.</a:t>
            </a:r>
          </a:p>
          <a:p>
            <a:pPr algn="just">
              <a:lnSpc>
                <a:spcPts val="4200"/>
              </a:lnSpc>
            </a:pP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eographic Footprint: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"Total Employee by State" map shows concentration primarily in three major hubs: California (CA), Illinois (IL), and New York (NY).</a:t>
            </a:r>
          </a:p>
          <a:p>
            <a:pPr algn="just">
              <a:lnSpc>
                <a:spcPts val="273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08637" y="2003094"/>
            <a:ext cx="13022776" cy="7647938"/>
            <a:chOff x="0" y="0"/>
            <a:chExt cx="3429867" cy="2014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9867" cy="2014272"/>
            </a:xfrm>
            <a:custGeom>
              <a:avLst/>
              <a:gdLst/>
              <a:ahLst/>
              <a:cxnLst/>
              <a:rect r="r" b="b" t="t" l="l"/>
              <a:pathLst>
                <a:path h="2014272" w="3429867">
                  <a:moveTo>
                    <a:pt x="30319" y="0"/>
                  </a:moveTo>
                  <a:lnTo>
                    <a:pt x="3399548" y="0"/>
                  </a:lnTo>
                  <a:cubicBezTo>
                    <a:pt x="3416293" y="0"/>
                    <a:pt x="3429867" y="13574"/>
                    <a:pt x="3429867" y="30319"/>
                  </a:cubicBezTo>
                  <a:lnTo>
                    <a:pt x="3429867" y="1983953"/>
                  </a:lnTo>
                  <a:cubicBezTo>
                    <a:pt x="3429867" y="1991994"/>
                    <a:pt x="3426673" y="1999705"/>
                    <a:pt x="3420987" y="2005391"/>
                  </a:cubicBezTo>
                  <a:cubicBezTo>
                    <a:pt x="3415301" y="2011077"/>
                    <a:pt x="3407589" y="2014272"/>
                    <a:pt x="3399548" y="2014272"/>
                  </a:cubicBezTo>
                  <a:lnTo>
                    <a:pt x="30319" y="2014272"/>
                  </a:lnTo>
                  <a:cubicBezTo>
                    <a:pt x="22278" y="2014272"/>
                    <a:pt x="14566" y="2011077"/>
                    <a:pt x="8880" y="2005391"/>
                  </a:cubicBezTo>
                  <a:cubicBezTo>
                    <a:pt x="3194" y="1999705"/>
                    <a:pt x="0" y="1991994"/>
                    <a:pt x="0" y="1983953"/>
                  </a:cubicBezTo>
                  <a:lnTo>
                    <a:pt x="0" y="30319"/>
                  </a:lnTo>
                  <a:cubicBezTo>
                    <a:pt x="0" y="22278"/>
                    <a:pt x="3194" y="14566"/>
                    <a:pt x="8880" y="8880"/>
                  </a:cubicBezTo>
                  <a:cubicBezTo>
                    <a:pt x="14566" y="3194"/>
                    <a:pt x="22278" y="0"/>
                    <a:pt x="30319" y="0"/>
                  </a:cubicBez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29867" cy="2052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78476" y="2358916"/>
            <a:ext cx="12280824" cy="6936294"/>
          </a:xfrm>
          <a:custGeom>
            <a:avLst/>
            <a:gdLst/>
            <a:ahLst/>
            <a:cxnLst/>
            <a:rect r="r" b="b" t="t" l="l"/>
            <a:pathLst>
              <a:path h="6936294" w="12280824">
                <a:moveTo>
                  <a:pt x="0" y="0"/>
                </a:moveTo>
                <a:lnTo>
                  <a:pt x="12280824" y="0"/>
                </a:lnTo>
                <a:lnTo>
                  <a:pt x="12280824" y="6936294"/>
                </a:lnTo>
                <a:lnTo>
                  <a:pt x="0" y="6936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69357"/>
            <a:ext cx="6118024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Attrition Summary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6814" y="828593"/>
            <a:ext cx="17824937" cy="140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9"/>
              </a:lnSpc>
            </a:pPr>
            <a:r>
              <a:rPr lang="en-US" sz="12473" spc="-9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insights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36814" y="2618232"/>
            <a:ext cx="17542456" cy="7202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2"/>
              </a:lnSpc>
            </a:pPr>
            <a:r>
              <a:rPr lang="en-US" sz="4400" spc="-3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2-Attrition Risk &amp; Behavior Analysis</a:t>
            </a:r>
          </a:p>
          <a:p>
            <a:pPr algn="just">
              <a:lnSpc>
                <a:spcPts val="2340"/>
              </a:lnSpc>
            </a:pPr>
          </a:p>
          <a:p>
            <a:pPr algn="just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Overtime Connection: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Out of the 237 employees who left, 127 took overtime and then resigned. This indicates that nearly 54% of your attrition is heavily correlated with workload fatigue and burnout.</a:t>
            </a:r>
          </a:p>
          <a:p>
            <a:pPr algn="just">
              <a:lnSpc>
                <a:spcPts val="4470"/>
              </a:lnSpc>
            </a:pPr>
          </a:p>
          <a:p>
            <a:pPr algn="just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Financial Profile of Leavers: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Average Salary for Attriting Employees is $82.26K, which sits significantly below the company-wide average salary of $112.96K. This implies undercompensation could be a heavy secondary driver for departures.</a:t>
            </a:r>
          </a:p>
          <a:p>
            <a:pPr algn="just">
              <a:lnSpc>
                <a:spcPts val="4470"/>
              </a:lnSpc>
            </a:pPr>
          </a:p>
          <a:p>
            <a:pPr algn="just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Departures by Tenure: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Employees who leave exit very early in their lifecycle, showing an Average Tenure of just 2.43 years (compared to the company average of 4.6).</a:t>
            </a:r>
          </a:p>
          <a:p>
            <a:pPr algn="just">
              <a:lnSpc>
                <a:spcPts val="3675"/>
              </a:lnSpc>
            </a:pPr>
          </a:p>
          <a:p>
            <a:pPr algn="just">
              <a:lnSpc>
                <a:spcPts val="273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08637" y="2003094"/>
            <a:ext cx="13022776" cy="7647938"/>
            <a:chOff x="0" y="0"/>
            <a:chExt cx="3429867" cy="2014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9867" cy="2014272"/>
            </a:xfrm>
            <a:custGeom>
              <a:avLst/>
              <a:gdLst/>
              <a:ahLst/>
              <a:cxnLst/>
              <a:rect r="r" b="b" t="t" l="l"/>
              <a:pathLst>
                <a:path h="2014272" w="3429867">
                  <a:moveTo>
                    <a:pt x="30319" y="0"/>
                  </a:moveTo>
                  <a:lnTo>
                    <a:pt x="3399548" y="0"/>
                  </a:lnTo>
                  <a:cubicBezTo>
                    <a:pt x="3416293" y="0"/>
                    <a:pt x="3429867" y="13574"/>
                    <a:pt x="3429867" y="30319"/>
                  </a:cubicBezTo>
                  <a:lnTo>
                    <a:pt x="3429867" y="1983953"/>
                  </a:lnTo>
                  <a:cubicBezTo>
                    <a:pt x="3429867" y="1991994"/>
                    <a:pt x="3426673" y="1999705"/>
                    <a:pt x="3420987" y="2005391"/>
                  </a:cubicBezTo>
                  <a:cubicBezTo>
                    <a:pt x="3415301" y="2011077"/>
                    <a:pt x="3407589" y="2014272"/>
                    <a:pt x="3399548" y="2014272"/>
                  </a:cubicBezTo>
                  <a:lnTo>
                    <a:pt x="30319" y="2014272"/>
                  </a:lnTo>
                  <a:cubicBezTo>
                    <a:pt x="22278" y="2014272"/>
                    <a:pt x="14566" y="2011077"/>
                    <a:pt x="8880" y="2005391"/>
                  </a:cubicBezTo>
                  <a:cubicBezTo>
                    <a:pt x="3194" y="1999705"/>
                    <a:pt x="0" y="1991994"/>
                    <a:pt x="0" y="1983953"/>
                  </a:cubicBezTo>
                  <a:lnTo>
                    <a:pt x="0" y="30319"/>
                  </a:lnTo>
                  <a:cubicBezTo>
                    <a:pt x="0" y="22278"/>
                    <a:pt x="3194" y="14566"/>
                    <a:pt x="8880" y="8880"/>
                  </a:cubicBezTo>
                  <a:cubicBezTo>
                    <a:pt x="14566" y="3194"/>
                    <a:pt x="22278" y="0"/>
                    <a:pt x="30319" y="0"/>
                  </a:cubicBez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29867" cy="2052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85307" y="2418271"/>
            <a:ext cx="12273993" cy="6840029"/>
          </a:xfrm>
          <a:custGeom>
            <a:avLst/>
            <a:gdLst/>
            <a:ahLst/>
            <a:cxnLst/>
            <a:rect r="r" b="b" t="t" l="l"/>
            <a:pathLst>
              <a:path h="6840029" w="12273993">
                <a:moveTo>
                  <a:pt x="0" y="0"/>
                </a:moveTo>
                <a:lnTo>
                  <a:pt x="12273993" y="0"/>
                </a:lnTo>
                <a:lnTo>
                  <a:pt x="12273993" y="6840029"/>
                </a:lnTo>
                <a:lnTo>
                  <a:pt x="0" y="6840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69357"/>
            <a:ext cx="6118024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Workforce Demographics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6814" y="828593"/>
            <a:ext cx="17824937" cy="140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9"/>
              </a:lnSpc>
            </a:pPr>
            <a:r>
              <a:rPr lang="en-US" sz="12473" spc="-9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insights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36814" y="2398784"/>
            <a:ext cx="17495376" cy="7516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2"/>
              </a:lnSpc>
            </a:pPr>
            <a:r>
              <a:rPr lang="en-US" sz="4400" spc="-3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3. Workforce Demographics &amp; Operational Balance</a:t>
            </a:r>
          </a:p>
          <a:p>
            <a:pPr algn="just">
              <a:lnSpc>
                <a:spcPts val="3432"/>
              </a:lnSpc>
            </a:pP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Overtime R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eliance: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There are 416 Overtime Workers in the organization. Given that 127 people worked overtime and left, managing the workload of this specific pool is highly critical.</a:t>
            </a:r>
          </a:p>
          <a:p>
            <a:pPr algn="just">
              <a:lnSpc>
                <a:spcPts val="4200"/>
              </a:lnSpc>
            </a:pP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Departmental Staffing: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workforce is heavily concentrated in Technology (423 Male / 438 Female) and Sales (204 Male / 204 Female), maintaining almost perfect gender parity across these primary business units. Human Resources is tiny by comparison (24 Male / 33 Female).</a:t>
            </a:r>
          </a:p>
          <a:p>
            <a:pPr algn="just">
              <a:lnSpc>
                <a:spcPts val="4200"/>
              </a:lnSpc>
            </a:pP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Education vs. Performance: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majority of the workforce holds a Bachelors (254M / 269F) or Masters (190M / 164F) degree. Interestingly, when looking at performance by manager ratings, the counts of employees meeting or exceeding expectations remain highly balanced across both genders (e.g., Exceeds Expectations: 422 Male vs. 454 Female).</a:t>
            </a:r>
          </a:p>
          <a:p>
            <a:pPr algn="just">
              <a:lnSpc>
                <a:spcPts val="3150"/>
              </a:lnSpc>
            </a:pPr>
          </a:p>
          <a:p>
            <a:pPr algn="just">
              <a:lnSpc>
                <a:spcPts val="273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08637" y="2003094"/>
            <a:ext cx="13022776" cy="7647938"/>
            <a:chOff x="0" y="0"/>
            <a:chExt cx="3429867" cy="2014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9867" cy="2014272"/>
            </a:xfrm>
            <a:custGeom>
              <a:avLst/>
              <a:gdLst/>
              <a:ahLst/>
              <a:cxnLst/>
              <a:rect r="r" b="b" t="t" l="l"/>
              <a:pathLst>
                <a:path h="2014272" w="3429867">
                  <a:moveTo>
                    <a:pt x="30319" y="0"/>
                  </a:moveTo>
                  <a:lnTo>
                    <a:pt x="3399548" y="0"/>
                  </a:lnTo>
                  <a:cubicBezTo>
                    <a:pt x="3416293" y="0"/>
                    <a:pt x="3429867" y="13574"/>
                    <a:pt x="3429867" y="30319"/>
                  </a:cubicBezTo>
                  <a:lnTo>
                    <a:pt x="3429867" y="1983953"/>
                  </a:lnTo>
                  <a:cubicBezTo>
                    <a:pt x="3429867" y="1991994"/>
                    <a:pt x="3426673" y="1999705"/>
                    <a:pt x="3420987" y="2005391"/>
                  </a:cubicBezTo>
                  <a:cubicBezTo>
                    <a:pt x="3415301" y="2011077"/>
                    <a:pt x="3407589" y="2014272"/>
                    <a:pt x="3399548" y="2014272"/>
                  </a:cubicBezTo>
                  <a:lnTo>
                    <a:pt x="30319" y="2014272"/>
                  </a:lnTo>
                  <a:cubicBezTo>
                    <a:pt x="22278" y="2014272"/>
                    <a:pt x="14566" y="2011077"/>
                    <a:pt x="8880" y="2005391"/>
                  </a:cubicBezTo>
                  <a:cubicBezTo>
                    <a:pt x="3194" y="1999705"/>
                    <a:pt x="0" y="1991994"/>
                    <a:pt x="0" y="1983953"/>
                  </a:cubicBezTo>
                  <a:lnTo>
                    <a:pt x="0" y="30319"/>
                  </a:lnTo>
                  <a:cubicBezTo>
                    <a:pt x="0" y="22278"/>
                    <a:pt x="3194" y="14566"/>
                    <a:pt x="8880" y="8880"/>
                  </a:cubicBezTo>
                  <a:cubicBezTo>
                    <a:pt x="14566" y="3194"/>
                    <a:pt x="22278" y="0"/>
                    <a:pt x="30319" y="0"/>
                  </a:cubicBez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29867" cy="2052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85307" y="2397127"/>
            <a:ext cx="12273993" cy="6861173"/>
          </a:xfrm>
          <a:custGeom>
            <a:avLst/>
            <a:gdLst/>
            <a:ahLst/>
            <a:cxnLst/>
            <a:rect r="r" b="b" t="t" l="l"/>
            <a:pathLst>
              <a:path h="6861173" w="12273993">
                <a:moveTo>
                  <a:pt x="0" y="0"/>
                </a:moveTo>
                <a:lnTo>
                  <a:pt x="12273993" y="0"/>
                </a:lnTo>
                <a:lnTo>
                  <a:pt x="12273993" y="6861173"/>
                </a:lnTo>
                <a:lnTo>
                  <a:pt x="0" y="6861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1243"/>
            <a:ext cx="6118024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Salary Summary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08637" y="2003094"/>
            <a:ext cx="13022776" cy="7647938"/>
            <a:chOff x="0" y="0"/>
            <a:chExt cx="3429867" cy="2014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9867" cy="2014272"/>
            </a:xfrm>
            <a:custGeom>
              <a:avLst/>
              <a:gdLst/>
              <a:ahLst/>
              <a:cxnLst/>
              <a:rect r="r" b="b" t="t" l="l"/>
              <a:pathLst>
                <a:path h="2014272" w="3429867">
                  <a:moveTo>
                    <a:pt x="30319" y="0"/>
                  </a:moveTo>
                  <a:lnTo>
                    <a:pt x="3399548" y="0"/>
                  </a:lnTo>
                  <a:cubicBezTo>
                    <a:pt x="3416293" y="0"/>
                    <a:pt x="3429867" y="13574"/>
                    <a:pt x="3429867" y="30319"/>
                  </a:cubicBezTo>
                  <a:lnTo>
                    <a:pt x="3429867" y="1983953"/>
                  </a:lnTo>
                  <a:cubicBezTo>
                    <a:pt x="3429867" y="1991994"/>
                    <a:pt x="3426673" y="1999705"/>
                    <a:pt x="3420987" y="2005391"/>
                  </a:cubicBezTo>
                  <a:cubicBezTo>
                    <a:pt x="3415301" y="2011077"/>
                    <a:pt x="3407589" y="2014272"/>
                    <a:pt x="3399548" y="2014272"/>
                  </a:cubicBezTo>
                  <a:lnTo>
                    <a:pt x="30319" y="2014272"/>
                  </a:lnTo>
                  <a:cubicBezTo>
                    <a:pt x="22278" y="2014272"/>
                    <a:pt x="14566" y="2011077"/>
                    <a:pt x="8880" y="2005391"/>
                  </a:cubicBezTo>
                  <a:cubicBezTo>
                    <a:pt x="3194" y="1999705"/>
                    <a:pt x="0" y="1991994"/>
                    <a:pt x="0" y="1983953"/>
                  </a:cubicBezTo>
                  <a:lnTo>
                    <a:pt x="0" y="30319"/>
                  </a:lnTo>
                  <a:cubicBezTo>
                    <a:pt x="0" y="22278"/>
                    <a:pt x="3194" y="14566"/>
                    <a:pt x="8880" y="8880"/>
                  </a:cubicBezTo>
                  <a:cubicBezTo>
                    <a:pt x="14566" y="3194"/>
                    <a:pt x="22278" y="0"/>
                    <a:pt x="30319" y="0"/>
                  </a:cubicBez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29867" cy="2052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85307" y="2397127"/>
            <a:ext cx="12273993" cy="6861173"/>
          </a:xfrm>
          <a:custGeom>
            <a:avLst/>
            <a:gdLst/>
            <a:ahLst/>
            <a:cxnLst/>
            <a:rect r="r" b="b" t="t" l="l"/>
            <a:pathLst>
              <a:path h="6861173" w="12273993">
                <a:moveTo>
                  <a:pt x="0" y="0"/>
                </a:moveTo>
                <a:lnTo>
                  <a:pt x="12273993" y="0"/>
                </a:lnTo>
                <a:lnTo>
                  <a:pt x="12273993" y="6861173"/>
                </a:lnTo>
                <a:lnTo>
                  <a:pt x="0" y="6861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1243"/>
            <a:ext cx="6118024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Salary Summary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6814" y="828593"/>
            <a:ext cx="17824937" cy="140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9"/>
              </a:lnSpc>
            </a:pPr>
            <a:r>
              <a:rPr lang="en-US" sz="12473" spc="-9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insights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36814" y="2398784"/>
            <a:ext cx="17084709" cy="778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4400" spc="-3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4. Compensation &amp; Pay Equity Analysis</a:t>
            </a:r>
          </a:p>
          <a:p>
            <a:pPr algn="l">
              <a:lnSpc>
                <a:spcPts val="3432"/>
              </a:lnSpc>
            </a:pPr>
          </a:p>
          <a:p>
            <a:pPr algn="just" marL="647703" indent="-323852" lvl="1">
              <a:lnSpc>
                <a:spcPts val="396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Payr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oll &amp; Sala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ry Disparities: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total company payroll sits at $166M with an Average Salary of $112.96K. However, the Median Salary is $71.20K, meaning a small portion of extremely high earners is inflating the average. This is supported by a Maximum Salary of $547K against a Minimum Salary of $20K, alongside an upper outlier threshold of $289.77K.</a:t>
            </a:r>
          </a:p>
          <a:p>
            <a:pPr algn="just">
              <a:lnSpc>
                <a:spcPts val="3960"/>
              </a:lnSpc>
            </a:pPr>
          </a:p>
          <a:p>
            <a:pPr algn="just" marL="647703" indent="-323852" lvl="1">
              <a:lnSpc>
                <a:spcPts val="396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epartmental Pay: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Human Resources actually holds the highest average salary at $119.69K, closely followed by Sales ($119.11K), while Technology lags behind at $109.65K (which may further explain the high attrition seen in Tech).</a:t>
            </a:r>
          </a:p>
          <a:p>
            <a:pPr algn="just">
              <a:lnSpc>
                <a:spcPts val="3960"/>
              </a:lnSpc>
            </a:pPr>
          </a:p>
          <a:p>
            <a:pPr algn="just" marL="647703" indent="-323852" lvl="1">
              <a:lnSpc>
                <a:spcPts val="396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Educat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ion Premium: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Compensation tracks linearly with education level. Doctorate holders average $154.27K, while those with No Formal Qualification average $94.98K.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3675"/>
              </a:lnSpc>
            </a:pPr>
          </a:p>
          <a:p>
            <a:pPr algn="l">
              <a:lnSpc>
                <a:spcPts val="2730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08637" y="2003094"/>
            <a:ext cx="13022776" cy="7647938"/>
            <a:chOff x="0" y="0"/>
            <a:chExt cx="3429867" cy="2014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9867" cy="2014272"/>
            </a:xfrm>
            <a:custGeom>
              <a:avLst/>
              <a:gdLst/>
              <a:ahLst/>
              <a:cxnLst/>
              <a:rect r="r" b="b" t="t" l="l"/>
              <a:pathLst>
                <a:path h="2014272" w="3429867">
                  <a:moveTo>
                    <a:pt x="30319" y="0"/>
                  </a:moveTo>
                  <a:lnTo>
                    <a:pt x="3399548" y="0"/>
                  </a:lnTo>
                  <a:cubicBezTo>
                    <a:pt x="3416293" y="0"/>
                    <a:pt x="3429867" y="13574"/>
                    <a:pt x="3429867" y="30319"/>
                  </a:cubicBezTo>
                  <a:lnTo>
                    <a:pt x="3429867" y="1983953"/>
                  </a:lnTo>
                  <a:cubicBezTo>
                    <a:pt x="3429867" y="1991994"/>
                    <a:pt x="3426673" y="1999705"/>
                    <a:pt x="3420987" y="2005391"/>
                  </a:cubicBezTo>
                  <a:cubicBezTo>
                    <a:pt x="3415301" y="2011077"/>
                    <a:pt x="3407589" y="2014272"/>
                    <a:pt x="3399548" y="2014272"/>
                  </a:cubicBezTo>
                  <a:lnTo>
                    <a:pt x="30319" y="2014272"/>
                  </a:lnTo>
                  <a:cubicBezTo>
                    <a:pt x="22278" y="2014272"/>
                    <a:pt x="14566" y="2011077"/>
                    <a:pt x="8880" y="2005391"/>
                  </a:cubicBezTo>
                  <a:cubicBezTo>
                    <a:pt x="3194" y="1999705"/>
                    <a:pt x="0" y="1991994"/>
                    <a:pt x="0" y="1983953"/>
                  </a:cubicBezTo>
                  <a:lnTo>
                    <a:pt x="0" y="30319"/>
                  </a:lnTo>
                  <a:cubicBezTo>
                    <a:pt x="0" y="22278"/>
                    <a:pt x="3194" y="14566"/>
                    <a:pt x="8880" y="8880"/>
                  </a:cubicBezTo>
                  <a:cubicBezTo>
                    <a:pt x="14566" y="3194"/>
                    <a:pt x="22278" y="0"/>
                    <a:pt x="30319" y="0"/>
                  </a:cubicBezTo>
                  <a:close/>
                </a:path>
              </a:pathLst>
            </a:custGeom>
            <a:solidFill>
              <a:srgbClr val="2B2B2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29867" cy="2052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87589" y="2403068"/>
            <a:ext cx="12271711" cy="6855232"/>
          </a:xfrm>
          <a:custGeom>
            <a:avLst/>
            <a:gdLst/>
            <a:ahLst/>
            <a:cxnLst/>
            <a:rect r="r" b="b" t="t" l="l"/>
            <a:pathLst>
              <a:path h="6855232" w="12271711">
                <a:moveTo>
                  <a:pt x="0" y="0"/>
                </a:moveTo>
                <a:lnTo>
                  <a:pt x="12271711" y="0"/>
                </a:lnTo>
                <a:lnTo>
                  <a:pt x="12271711" y="6855232"/>
                </a:lnTo>
                <a:lnTo>
                  <a:pt x="0" y="6855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31243"/>
            <a:ext cx="6118024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Performance Summary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6814" y="828593"/>
            <a:ext cx="17824937" cy="140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9"/>
              </a:lnSpc>
            </a:pPr>
            <a:r>
              <a:rPr lang="en-US" sz="12473" spc="-98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insights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36814" y="2398784"/>
            <a:ext cx="17084709" cy="763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2"/>
              </a:lnSpc>
            </a:pPr>
            <a:r>
              <a:rPr lang="en-US" sz="4400" spc="-3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5. Performance &amp; Perception Gaps</a:t>
            </a:r>
          </a:p>
          <a:p>
            <a:pPr algn="just">
              <a:lnSpc>
                <a:spcPts val="3432"/>
              </a:lnSpc>
            </a:pP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Self-A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ppraisal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Gap: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There is a clear Rating Gap of 0.5. On average, employees rate themselves higher (Average Self Rating: 4.0) than their managers rate them (Average Manager Rating: 3.5).</a:t>
            </a:r>
          </a:p>
          <a:p>
            <a:pPr algn="just">
              <a:lnSpc>
                <a:spcPts val="4200"/>
              </a:lnSpc>
            </a:pP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Dep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artmental Trends: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perception gap is completely uniform across all business branches. In every single department, the average self-rating hovers around 3.9, while managers consistently rate them around 3.4.</a:t>
            </a:r>
          </a:p>
          <a:p>
            <a:pPr algn="just">
              <a:lnSpc>
                <a:spcPts val="4200"/>
              </a:lnSpc>
            </a:pPr>
          </a:p>
          <a:p>
            <a:pPr algn="just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Consist</a:t>
            </a:r>
            <a:r>
              <a:rPr lang="en-US" b="true" sz="3000" spc="-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ent Disconnect: </a:t>
            </a:r>
            <a:r>
              <a:rPr lang="en-US" sz="3000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"Avg Manager Rating and Avg Self Rating by Month" line chart shows that this half-point disconnect remains completely flat and unbroken throughout all 12 months of the fiscal cycle.</a:t>
            </a:r>
          </a:p>
          <a:p>
            <a:pPr algn="just">
              <a:lnSpc>
                <a:spcPts val="4620"/>
              </a:lnSpc>
            </a:pPr>
          </a:p>
          <a:p>
            <a:pPr algn="just">
              <a:lnSpc>
                <a:spcPts val="3675"/>
              </a:lnSpc>
            </a:pPr>
          </a:p>
          <a:p>
            <a:pPr algn="just">
              <a:lnSpc>
                <a:spcPts val="2730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0072" y="3534176"/>
            <a:ext cx="9047857" cy="160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0"/>
              </a:lnSpc>
            </a:pPr>
            <a:r>
              <a:rPr lang="en-US" sz="14372" spc="-113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DAHNhCLL7CQ</dc:identifier>
  <dcterms:modified xsi:type="dcterms:W3CDTF">2011-08-01T06:04:30Z</dcterms:modified>
  <cp:revision>1</cp:revision>
  <dc:title>HR Peformance Report</dc:title>
</cp:coreProperties>
</file>